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65" r:id="rId3"/>
    <p:sldId id="266" r:id="rId4"/>
    <p:sldId id="267" r:id="rId5"/>
    <p:sldId id="275" r:id="rId6"/>
    <p:sldId id="268" r:id="rId7"/>
    <p:sldId id="270" r:id="rId8"/>
    <p:sldId id="272" r:id="rId9"/>
    <p:sldId id="273" r:id="rId10"/>
    <p:sldId id="269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104" d="100"/>
          <a:sy n="104" d="100"/>
        </p:scale>
        <p:origin x="182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4</a:t>
            </a:r>
            <a:endParaRPr lang="fr-FR" altLang="fr-FR" dirty="0"/>
          </a:p>
          <a:p>
            <a:pPr eaLnBrk="1" hangingPunct="1"/>
            <a:r>
              <a:rPr lang="fr-FR" altLang="fr-FR" dirty="0"/>
              <a:t>Fonctions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Outre les fonctions de bases de Python, il est possible d’en définir de nouvelles grâce à l’instruction « </a:t>
            </a:r>
            <a:r>
              <a:rPr lang="fr-BE" altLang="fr-FR" dirty="0" err="1"/>
              <a:t>def</a:t>
            </a:r>
            <a:r>
              <a:rPr lang="fr-BE" altLang="fr-FR" dirty="0"/>
              <a:t> ».</a:t>
            </a:r>
          </a:p>
          <a:p>
            <a:pPr marL="0" indent="0" eaLnBrk="1" hangingPunct="1">
              <a:buNone/>
            </a:pPr>
            <a:r>
              <a:rPr lang="fr-BE" altLang="fr-FR" dirty="0"/>
              <a:t>       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(arg1,arg2,…,</a:t>
            </a:r>
            <a:r>
              <a:rPr lang="fr-BE" altLang="fr-FR" dirty="0" err="1">
                <a:solidFill>
                  <a:schemeClr val="accent2"/>
                </a:solidFill>
              </a:rPr>
              <a:t>argn</a:t>
            </a:r>
            <a:r>
              <a:rPr lang="fr-BE" altLang="fr-FR" dirty="0">
                <a:solidFill>
                  <a:schemeClr val="accent2"/>
                </a:solidFill>
              </a:rPr>
              <a:t>):</a:t>
            </a:r>
          </a:p>
          <a:p>
            <a:pPr marL="0" indent="0" eaLnBrk="1" hangingPunct="1">
              <a:buNone/>
            </a:pPr>
            <a:r>
              <a:rPr lang="fr-BE" altLang="fr-FR" dirty="0">
                <a:solidFill>
                  <a:schemeClr val="accent2"/>
                </a:solidFill>
              </a:rPr>
              <a:t>                           &lt;instruction&gt;</a:t>
            </a:r>
          </a:p>
          <a:p>
            <a:pPr marL="0" indent="0" eaLnBrk="1" hangingPunct="1">
              <a:buNone/>
            </a:pPr>
            <a:r>
              <a:rPr lang="fr-BE" altLang="fr-FR" dirty="0">
                <a:solidFill>
                  <a:schemeClr val="accent2"/>
                </a:solidFill>
              </a:rPr>
              <a:t>                            return &lt;valeur&gt;</a:t>
            </a:r>
          </a:p>
          <a:p>
            <a:pPr eaLnBrk="1" hangingPunct="1"/>
            <a:endParaRPr lang="fr-BE" altLang="fr-FR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647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Appel d’une fonction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altLang="fr-FR" dirty="0"/>
              <a:t>La forme générale pour passer des arguments est </a:t>
            </a:r>
            <a:r>
              <a:rPr lang="fr-BE" altLang="fr-FR" dirty="0" err="1"/>
              <a:t>nom_fct</a:t>
            </a:r>
            <a:r>
              <a:rPr lang="fr-BE" altLang="fr-FR" dirty="0"/>
              <a:t>(arg1,arg2,…,</a:t>
            </a:r>
            <a:r>
              <a:rPr lang="fr-BE" altLang="fr-FR" dirty="0" err="1"/>
              <a:t>argn</a:t>
            </a:r>
            <a:r>
              <a:rPr lang="fr-BE" altLang="fr-FR" dirty="0"/>
              <a:t>)</a:t>
            </a:r>
          </a:p>
          <a:p>
            <a:r>
              <a:rPr lang="fr-BE" altLang="fr-FR" dirty="0"/>
              <a:t>Les fonctions peuvent être appelées en utilisant des arguments mots-clés de la forme « </a:t>
            </a:r>
            <a:r>
              <a:rPr lang="fr-BE" altLang="fr-FR" dirty="0" err="1"/>
              <a:t>parametre</a:t>
            </a:r>
            <a:r>
              <a:rPr lang="fr-BE" altLang="fr-FR" dirty="0"/>
              <a:t>=valeur »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95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par défauts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Il est possible de définir des paramètres par défaut pour un ou plusieurs arguments</a:t>
            </a:r>
          </a:p>
          <a:p>
            <a:pPr lvl="1" eaLnBrk="1" hangingPunct="1"/>
            <a:r>
              <a:rPr lang="fr-BE" altLang="fr-FR" dirty="0" err="1"/>
              <a:t>def</a:t>
            </a:r>
            <a:r>
              <a:rPr lang="fr-BE" altLang="fr-FR" dirty="0"/>
              <a:t> </a:t>
            </a:r>
            <a:r>
              <a:rPr lang="fr-BE" altLang="fr-FR" dirty="0" err="1"/>
              <a:t>my_function</a:t>
            </a:r>
            <a:r>
              <a:rPr lang="fr-BE" altLang="fr-FR" dirty="0"/>
              <a:t> (</a:t>
            </a:r>
            <a:r>
              <a:rPr lang="fr-BE" altLang="fr-FR" dirty="0" err="1"/>
              <a:t>param_a</a:t>
            </a:r>
            <a:r>
              <a:rPr lang="fr-BE" altLang="fr-FR" dirty="0"/>
              <a:t>, </a:t>
            </a:r>
            <a:r>
              <a:rPr lang="fr-BE" altLang="fr-FR" dirty="0" err="1"/>
              <a:t>param_b</a:t>
            </a:r>
            <a:r>
              <a:rPr lang="fr-BE" altLang="fr-FR" dirty="0"/>
              <a:t>=1, </a:t>
            </a:r>
            <a:r>
              <a:rPr lang="fr-BE" altLang="fr-FR" dirty="0" err="1"/>
              <a:t>param_c</a:t>
            </a:r>
            <a:r>
              <a:rPr lang="fr-BE" altLang="fr-FR" dirty="0"/>
              <a:t>=2):</a:t>
            </a:r>
          </a:p>
          <a:p>
            <a:pPr marL="400050" lvl="1" indent="0" eaLnBrk="1" hangingPunct="1">
              <a:buNone/>
            </a:pPr>
            <a:r>
              <a:rPr lang="fr-BE" altLang="fr-FR" dirty="0"/>
              <a:t>                 </a:t>
            </a:r>
            <a:r>
              <a:rPr lang="fr-BE" altLang="fr-FR" dirty="0" err="1"/>
              <a:t>print</a:t>
            </a:r>
            <a:r>
              <a:rPr lang="fr-BE" altLang="fr-FR" dirty="0"/>
              <a:t>(</a:t>
            </a:r>
            <a:r>
              <a:rPr lang="fr-BE" altLang="fr-FR" dirty="0" err="1"/>
              <a:t>a,b,c</a:t>
            </a:r>
            <a:r>
              <a:rPr lang="fr-BE" altLang="fr-FR" dirty="0"/>
              <a:t>)</a:t>
            </a:r>
          </a:p>
          <a:p>
            <a:pPr eaLnBrk="1" hangingPunct="1"/>
            <a:r>
              <a:rPr lang="fr-BE" altLang="fr-FR" dirty="0"/>
              <a:t>Ce qui crée une fonction qui pourra être appelée avec moins d’arguments que ce qui a été défini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(0)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(0,1,2)</a:t>
            </a:r>
          </a:p>
          <a:p>
            <a:pPr lvl="1" indent="-342900" eaLnBrk="1" hangingPunct="1"/>
            <a:r>
              <a:rPr lang="fr-BE" altLang="fr-FR" dirty="0" err="1"/>
              <a:t>my_function</a:t>
            </a:r>
            <a:r>
              <a:rPr lang="fr-BE" altLang="fr-FR" dirty="0"/>
              <a:t> (</a:t>
            </a:r>
            <a:r>
              <a:rPr lang="fr-BE" altLang="fr-FR" dirty="0" err="1"/>
              <a:t>param_a</a:t>
            </a:r>
            <a:r>
              <a:rPr lang="fr-BE" altLang="fr-FR" dirty="0"/>
              <a:t>=0, </a:t>
            </a:r>
            <a:r>
              <a:rPr lang="fr-BE" altLang="fr-FR" dirty="0" err="1"/>
              <a:t>param_c</a:t>
            </a:r>
            <a:r>
              <a:rPr lang="fr-BE" altLang="fr-FR" dirty="0"/>
              <a:t>=3)</a:t>
            </a:r>
          </a:p>
          <a:p>
            <a:pPr marL="400050" lvl="1" indent="0" eaLnBrk="1" hangingPunct="1">
              <a:buNone/>
            </a:pPr>
            <a:endParaRPr lang="fr-BE" altLang="fr-FR" dirty="0">
              <a:solidFill>
                <a:schemeClr val="accent2"/>
              </a:solidFill>
            </a:endParaRPr>
          </a:p>
          <a:p>
            <a:pPr marL="400050" lvl="1" indent="0" eaLnBrk="1" hangingPunct="1">
              <a:buNone/>
            </a:pPr>
            <a:endParaRPr lang="fr-BE" alt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6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Annotations de paramètres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Possibilité de typer les paramètres</a:t>
            </a:r>
          </a:p>
          <a:p>
            <a:pPr lvl="1"/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my_function</a:t>
            </a:r>
            <a:r>
              <a:rPr lang="fr-FR" dirty="0"/>
              <a:t>(</a:t>
            </a:r>
            <a:r>
              <a:rPr lang="fr-FR" dirty="0" err="1"/>
              <a:t>param</a:t>
            </a:r>
            <a:r>
              <a:rPr lang="fr-FR" dirty="0"/>
              <a:t> : </a:t>
            </a:r>
            <a:r>
              <a:rPr lang="fr-FR" dirty="0" err="1"/>
              <a:t>int</a:t>
            </a:r>
            <a:r>
              <a:rPr lang="fr-FR" dirty="0"/>
              <a:t>) -&gt; </a:t>
            </a:r>
            <a:r>
              <a:rPr lang="fr-FR" dirty="0" err="1"/>
              <a:t>int</a:t>
            </a:r>
            <a:endParaRPr lang="fr-FR" dirty="0"/>
          </a:p>
          <a:p>
            <a:pPr lvl="1"/>
            <a:r>
              <a:rPr lang="fr-FR" dirty="0"/>
              <a:t>Il ne s’agit pas d’un typage fort</a:t>
            </a:r>
          </a:p>
          <a:p>
            <a:pPr lvl="1"/>
            <a:r>
              <a:rPr lang="fr-FR" dirty="0"/>
              <a:t>C’est juste une annotation</a:t>
            </a:r>
          </a:p>
          <a:p>
            <a:pPr lvl="1"/>
            <a:r>
              <a:rPr lang="fr-FR" dirty="0"/>
              <a:t>Peut s’utiliser avec une valeur par défaut</a:t>
            </a:r>
          </a:p>
          <a:p>
            <a:pPr lvl="1"/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my_function</a:t>
            </a:r>
            <a:r>
              <a:rPr lang="fr-FR" dirty="0"/>
              <a:t>(</a:t>
            </a:r>
            <a:r>
              <a:rPr lang="fr-FR" dirty="0" err="1"/>
              <a:t>param</a:t>
            </a:r>
            <a:r>
              <a:rPr lang="fr-FR" dirty="0"/>
              <a:t> : </a:t>
            </a:r>
            <a:r>
              <a:rPr lang="fr-FR" dirty="0" err="1"/>
              <a:t>int</a:t>
            </a:r>
            <a:r>
              <a:rPr lang="fr-FR" dirty="0"/>
              <a:t> = 0) -&gt;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312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fr-BE" altLang="fr-FR" dirty="0"/>
              <a:t>Une fonction peut être appelée avec un nombre d’arguments arbitraire.</a:t>
            </a:r>
          </a:p>
          <a:p>
            <a:pPr eaLnBrk="1" hangingPunct="1"/>
            <a:r>
              <a:rPr lang="fr-BE" altLang="fr-FR" dirty="0"/>
              <a:t>Il est possible de les envoyer sous deux formes différentes : </a:t>
            </a:r>
          </a:p>
          <a:p>
            <a:pPr lvl="1" eaLnBrk="1" hangingPunct="1"/>
            <a:r>
              <a:rPr lang="fr-BE" altLang="fr-FR" dirty="0"/>
              <a:t>Soit par dictionnaire : </a:t>
            </a:r>
          </a:p>
          <a:p>
            <a:pPr lvl="2" eaLnBrk="1" hangingPunct="1"/>
            <a:r>
              <a:rPr lang="fr-BE" altLang="fr-FR" dirty="0"/>
              <a:t>Définition :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(**</a:t>
            </a:r>
            <a:r>
              <a:rPr lang="fr-BE" altLang="fr-FR" dirty="0" err="1">
                <a:solidFill>
                  <a:schemeClr val="accent2"/>
                </a:solidFill>
              </a:rPr>
              <a:t>kwargs</a:t>
            </a:r>
            <a:r>
              <a:rPr lang="fr-BE" altLang="fr-FR" dirty="0">
                <a:solidFill>
                  <a:schemeClr val="accent2"/>
                </a:solidFill>
              </a:rPr>
              <a:t>):</a:t>
            </a:r>
          </a:p>
          <a:p>
            <a:pPr lvl="2" eaLnBrk="1" hangingPunct="1"/>
            <a:r>
              <a:rPr lang="fr-BE" altLang="fr-FR" dirty="0"/>
              <a:t>Appel :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(arg1=1, arg2=2)</a:t>
            </a:r>
          </a:p>
          <a:p>
            <a:pPr lvl="1" eaLnBrk="1" hangingPunct="1"/>
            <a:r>
              <a:rPr lang="fr-BE" altLang="fr-FR" dirty="0"/>
              <a:t>Soit par </a:t>
            </a:r>
            <a:r>
              <a:rPr lang="fr-BE" altLang="fr-FR" dirty="0" err="1"/>
              <a:t>tuple</a:t>
            </a:r>
            <a:r>
              <a:rPr lang="fr-BE" altLang="fr-FR" dirty="0"/>
              <a:t> : </a:t>
            </a:r>
          </a:p>
          <a:p>
            <a:pPr lvl="2" eaLnBrk="1" hangingPunct="1"/>
            <a:r>
              <a:rPr lang="fr-BE" altLang="fr-FR" dirty="0"/>
              <a:t>Définition : </a:t>
            </a:r>
            <a:r>
              <a:rPr lang="fr-BE" altLang="fr-FR" dirty="0" err="1">
                <a:solidFill>
                  <a:schemeClr val="accent2"/>
                </a:solidFill>
              </a:rPr>
              <a:t>def</a:t>
            </a:r>
            <a:r>
              <a:rPr lang="fr-BE" altLang="fr-FR" dirty="0">
                <a:solidFill>
                  <a:schemeClr val="accent2"/>
                </a:solidFill>
              </a:rPr>
              <a:t>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(*args):</a:t>
            </a:r>
          </a:p>
          <a:p>
            <a:pPr lvl="2" eaLnBrk="1" hangingPunct="1"/>
            <a:r>
              <a:rPr lang="fr-BE" altLang="fr-FR" dirty="0"/>
              <a:t>Appel : </a:t>
            </a:r>
            <a:r>
              <a:rPr lang="fr-BE" altLang="fr-FR" dirty="0" err="1">
                <a:solidFill>
                  <a:schemeClr val="accent2"/>
                </a:solidFill>
              </a:rPr>
              <a:t>nom_fct</a:t>
            </a:r>
            <a:r>
              <a:rPr lang="fr-BE" altLang="fr-FR" dirty="0">
                <a:solidFill>
                  <a:schemeClr val="accent2"/>
                </a:solidFill>
              </a:rPr>
              <a:t> (arg1,arg2)</a:t>
            </a:r>
          </a:p>
        </p:txBody>
      </p:sp>
    </p:spTree>
    <p:extLst>
      <p:ext uri="{BB962C8B-B14F-4D97-AF65-F5344CB8AC3E}">
        <p14:creationId xmlns:p14="http://schemas.microsoft.com/office/powerpoint/2010/main" val="36318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 </a:t>
            </a:r>
            <a:r>
              <a:rPr lang="fr-FR" dirty="0" err="1"/>
              <a:t>tuples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200800" cy="41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1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Remarques sur les fonctions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fonctions sont des types comme les autres</a:t>
            </a:r>
          </a:p>
          <a:p>
            <a:r>
              <a:rPr lang="fr-FR" dirty="0"/>
              <a:t>Les fonctions sont manipulables comme tous les autres types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87" y="3356992"/>
            <a:ext cx="63627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4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Callback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fonctions peuvent être passée en paramètre d'une fonction → fonction de rappel (callback)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852936"/>
            <a:ext cx="63055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1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lambda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s’agit d’une écriture simplifiée d’une fonction</a:t>
            </a:r>
          </a:p>
          <a:p>
            <a:pPr lvl="1"/>
            <a:r>
              <a:rPr lang="fr-FR" dirty="0"/>
              <a:t>Très utile pour les fonctions arithmétiques</a:t>
            </a:r>
          </a:p>
          <a:p>
            <a:pPr lvl="1"/>
            <a:r>
              <a:rPr lang="fr-FR" dirty="0"/>
              <a:t>Permet </a:t>
            </a:r>
            <a:r>
              <a:rPr lang="fr-FR"/>
              <a:t>de stocker </a:t>
            </a:r>
            <a:r>
              <a:rPr lang="fr-FR" dirty="0"/>
              <a:t>dans une variable une fonction</a:t>
            </a:r>
          </a:p>
          <a:p>
            <a:pPr eaLnBrk="1" hangingPunct="1"/>
            <a:r>
              <a:rPr lang="fr-BE" altLang="fr-FR" dirty="0"/>
              <a:t>Avec le mot-clé « lambda », de petites fonctions anonymes peuvent être crées</a:t>
            </a:r>
          </a:p>
          <a:p>
            <a:pPr lvl="1" eaLnBrk="1" hangingPunct="1"/>
            <a:r>
              <a:rPr lang="fr-BE" altLang="fr-FR" dirty="0"/>
              <a:t>Elles sont limitées syntaxiquement à une expression unique.</a:t>
            </a:r>
          </a:p>
          <a:p>
            <a:pPr lvl="1" eaLnBrk="1" hangingPunct="1"/>
            <a:r>
              <a:rPr lang="fr-BE" altLang="fr-FR" dirty="0"/>
              <a:t>Ex : </a:t>
            </a:r>
            <a:r>
              <a:rPr lang="fr-BE" altLang="fr-FR" dirty="0">
                <a:solidFill>
                  <a:schemeClr val="accent2"/>
                </a:solidFill>
              </a:rPr>
              <a:t>f=lambda </a:t>
            </a:r>
            <a:r>
              <a:rPr lang="fr-BE" altLang="fr-FR" dirty="0" err="1">
                <a:solidFill>
                  <a:schemeClr val="accent2"/>
                </a:solidFill>
              </a:rPr>
              <a:t>x,y,z</a:t>
            </a:r>
            <a:r>
              <a:rPr lang="fr-BE" altLang="fr-FR" dirty="0">
                <a:solidFill>
                  <a:schemeClr val="accent2"/>
                </a:solidFill>
              </a:rPr>
              <a:t>: </a:t>
            </a:r>
            <a:r>
              <a:rPr lang="fr-BE" altLang="fr-FR" dirty="0" err="1">
                <a:solidFill>
                  <a:schemeClr val="accent2"/>
                </a:solidFill>
              </a:rPr>
              <a:t>x+y+z</a:t>
            </a:r>
            <a:endParaRPr lang="fr-BE" altLang="fr-FR" dirty="0">
              <a:solidFill>
                <a:schemeClr val="accent2"/>
              </a:solidFill>
            </a:endParaRPr>
          </a:p>
          <a:p>
            <a:pPr lvl="1" eaLnBrk="1" hangingPunct="1"/>
            <a:r>
              <a:rPr lang="fr-BE" altLang="fr-FR" dirty="0">
                <a:solidFill>
                  <a:schemeClr val="accent2"/>
                </a:solidFill>
              </a:rPr>
              <a:t>       f(2,3,4)</a:t>
            </a:r>
          </a:p>
          <a:p>
            <a:pPr lvl="1" eaLnBrk="1" hangingPunct="1"/>
            <a:r>
              <a:rPr lang="fr-BE" altLang="fr-FR" dirty="0"/>
              <a:t>       ce qui donne : </a:t>
            </a:r>
            <a:r>
              <a:rPr lang="fr-BE" altLang="fr-FR" dirty="0">
                <a:solidFill>
                  <a:schemeClr val="accent2"/>
                </a:solidFill>
              </a:rPr>
              <a:t>9</a:t>
            </a:r>
            <a:r>
              <a:rPr lang="fr-BE" alt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035366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3133</TotalTime>
  <Words>410</Words>
  <Application>Microsoft Office PowerPoint</Application>
  <PresentationFormat>Affichage à l'écran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Fonctions</vt:lpstr>
      <vt:lpstr>Appel d’une fonction</vt:lpstr>
      <vt:lpstr>Paramètres par défauts</vt:lpstr>
      <vt:lpstr>Annotations de paramètres</vt:lpstr>
      <vt:lpstr>Paramètres tuples</vt:lpstr>
      <vt:lpstr>Paramètres tuples</vt:lpstr>
      <vt:lpstr>Remarques sur les fonctions</vt:lpstr>
      <vt:lpstr>Callback</vt:lpstr>
      <vt:lpstr>Fonctions lambda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Charlotte Gainsbourg</cp:lastModifiedBy>
  <cp:revision>218</cp:revision>
  <dcterms:created xsi:type="dcterms:W3CDTF">2000-04-10T19:33:12Z</dcterms:created>
  <dcterms:modified xsi:type="dcterms:W3CDTF">2026-10-06T09:37:27Z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